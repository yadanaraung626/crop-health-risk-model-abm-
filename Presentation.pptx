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ormorant Garamond Bold" charset="1" panose="00000800000000000000"/>
      <p:regular r:id="rId18"/>
    </p:embeddedFont>
    <p:embeddedFont>
      <p:font typeface="DM Sans Bold" charset="1" panose="00000000000000000000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4186" y="997934"/>
            <a:ext cx="452749" cy="452749"/>
          </a:xfrm>
          <a:custGeom>
            <a:avLst/>
            <a:gdLst/>
            <a:ahLst/>
            <a:cxnLst/>
            <a:rect r="r" b="b" t="t" l="l"/>
            <a:pathLst>
              <a:path h="452749" w="452749">
                <a:moveTo>
                  <a:pt x="0" y="0"/>
                </a:moveTo>
                <a:lnTo>
                  <a:pt x="452749" y="0"/>
                </a:lnTo>
                <a:lnTo>
                  <a:pt x="452749" y="452748"/>
                </a:lnTo>
                <a:lnTo>
                  <a:pt x="0" y="452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28913" y="2680189"/>
            <a:ext cx="6743308" cy="253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6"/>
              </a:lnSpc>
            </a:pPr>
            <a:r>
              <a:rPr lang="en-US" sz="5572" b="true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</a:t>
            </a:r>
            <a:r>
              <a:rPr lang="en-US" sz="5572" b="true">
                <a:solidFill>
                  <a:srgbClr val="00000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Analytics in Agent-BasedModeling for Crop Health Risk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4278" y="8810726"/>
            <a:ext cx="4869614" cy="1476274"/>
            <a:chOff x="0" y="0"/>
            <a:chExt cx="6492819" cy="19683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18343" y="303990"/>
              <a:ext cx="6047974" cy="1664375"/>
            </a:xfrm>
            <a:custGeom>
              <a:avLst/>
              <a:gdLst/>
              <a:ahLst/>
              <a:cxnLst/>
              <a:rect r="r" b="b" t="t" l="l"/>
              <a:pathLst>
                <a:path h="1664375" w="6047974">
                  <a:moveTo>
                    <a:pt x="0" y="0"/>
                  </a:moveTo>
                  <a:lnTo>
                    <a:pt x="6047974" y="0"/>
                  </a:lnTo>
                  <a:lnTo>
                    <a:pt x="6047974" y="1664376"/>
                  </a:lnTo>
                  <a:lnTo>
                    <a:pt x="0" y="1664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-107579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0"/>
              <a:ext cx="6492819" cy="1161750"/>
              <a:chOff x="0" y="0"/>
              <a:chExt cx="1282532" cy="22948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82532" cy="229481"/>
              </a:xfrm>
              <a:custGeom>
                <a:avLst/>
                <a:gdLst/>
                <a:ahLst/>
                <a:cxnLst/>
                <a:rect r="r" b="b" t="t" l="l"/>
                <a:pathLst>
                  <a:path h="229481" w="1282532">
                    <a:moveTo>
                      <a:pt x="114741" y="0"/>
                    </a:moveTo>
                    <a:lnTo>
                      <a:pt x="1167791" y="0"/>
                    </a:lnTo>
                    <a:cubicBezTo>
                      <a:pt x="1231161" y="0"/>
                      <a:pt x="1282532" y="51371"/>
                      <a:pt x="1282532" y="114741"/>
                    </a:cubicBezTo>
                    <a:lnTo>
                      <a:pt x="1282532" y="114741"/>
                    </a:lnTo>
                    <a:cubicBezTo>
                      <a:pt x="1282532" y="145172"/>
                      <a:pt x="1270443" y="174357"/>
                      <a:pt x="1248925" y="195875"/>
                    </a:cubicBezTo>
                    <a:cubicBezTo>
                      <a:pt x="1227407" y="217393"/>
                      <a:pt x="1198223" y="229481"/>
                      <a:pt x="1167791" y="229481"/>
                    </a:cubicBezTo>
                    <a:lnTo>
                      <a:pt x="114741" y="229481"/>
                    </a:lnTo>
                    <a:cubicBezTo>
                      <a:pt x="51371" y="229481"/>
                      <a:pt x="0" y="178110"/>
                      <a:pt x="0" y="114741"/>
                    </a:cubicBezTo>
                    <a:lnTo>
                      <a:pt x="0" y="114741"/>
                    </a:lnTo>
                    <a:cubicBezTo>
                      <a:pt x="0" y="51371"/>
                      <a:pt x="51371" y="0"/>
                      <a:pt x="114741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C68DF">
                      <a:alpha val="100000"/>
                    </a:srgbClr>
                  </a:gs>
                  <a:gs pos="100000">
                    <a:srgbClr val="68A0FF">
                      <a:alpha val="100000"/>
                    </a:srgbClr>
                  </a:gs>
                </a:gsLst>
                <a:lin ang="0"/>
              </a:gra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282532" cy="2771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5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64238" y="272439"/>
              <a:ext cx="5164342" cy="569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6"/>
                </a:lnSpc>
              </a:pPr>
              <a:r>
                <a:rPr lang="en-US" sz="2597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ICT358 - Data Science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78880" y="981075"/>
            <a:ext cx="2900613" cy="43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597" b="true">
                <a:solidFill>
                  <a:srgbClr val="393447"/>
                </a:solidFill>
                <a:latin typeface="DM Sans Bold"/>
                <a:ea typeface="DM Sans Bold"/>
                <a:cs typeface="DM Sans Bold"/>
                <a:sym typeface="DM Sans Bold"/>
              </a:rPr>
              <a:t>HereWeGoAgain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82231"/>
            <a:ext cx="6633996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6610195 - Banyar Htet Naung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6610300 - Win Thiri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6610311 - Yadanar Aung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6610321 - Soe Soe San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393447"/>
                </a:solidFill>
                <a:latin typeface="DM Sans"/>
                <a:ea typeface="DM Sans"/>
                <a:cs typeface="DM Sans"/>
                <a:sym typeface="DM Sans"/>
              </a:rPr>
              <a:t>6610399 - Hsu Lae Than Tun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9706403">
            <a:off x="7679534" y="-1364457"/>
            <a:ext cx="16979448" cy="16392885"/>
          </a:xfrm>
          <a:custGeom>
            <a:avLst/>
            <a:gdLst/>
            <a:ahLst/>
            <a:cxnLst/>
            <a:rect r="r" b="b" t="t" l="l"/>
            <a:pathLst>
              <a:path h="16392885" w="16979448">
                <a:moveTo>
                  <a:pt x="0" y="0"/>
                </a:moveTo>
                <a:lnTo>
                  <a:pt x="16979447" y="0"/>
                </a:lnTo>
                <a:lnTo>
                  <a:pt x="16979447" y="16392885"/>
                </a:lnTo>
                <a:lnTo>
                  <a:pt x="0" y="16392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1653" y="2694985"/>
            <a:ext cx="7447508" cy="4897029"/>
          </a:xfrm>
          <a:custGeom>
            <a:avLst/>
            <a:gdLst/>
            <a:ahLst/>
            <a:cxnLst/>
            <a:rect r="r" b="b" t="t" l="l"/>
            <a:pathLst>
              <a:path h="4897029" w="7447508">
                <a:moveTo>
                  <a:pt x="0" y="0"/>
                </a:moveTo>
                <a:lnTo>
                  <a:pt x="7447509" y="0"/>
                </a:lnTo>
                <a:lnTo>
                  <a:pt x="7447509" y="4897030"/>
                </a:lnTo>
                <a:lnTo>
                  <a:pt x="0" y="4897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14" t="0" r="-8281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512120" y="3150553"/>
            <a:ext cx="9811792" cy="448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Crop health depends on environmental factors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soil, water, weather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Traditional methods are static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project uses Agent-Based Modeling (ABM)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Focus on dynamic crop-environment interaction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295507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7392" y="2535698"/>
            <a:ext cx="7845776" cy="6426664"/>
            <a:chOff x="0" y="0"/>
            <a:chExt cx="2066377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6377" cy="1692619"/>
            </a:xfrm>
            <a:custGeom>
              <a:avLst/>
              <a:gdLst/>
              <a:ahLst/>
              <a:cxnLst/>
              <a:rect r="r" b="b" t="t" l="l"/>
              <a:pathLst>
                <a:path h="1692619" w="2066377">
                  <a:moveTo>
                    <a:pt x="50325" y="0"/>
                  </a:moveTo>
                  <a:lnTo>
                    <a:pt x="2016053" y="0"/>
                  </a:lnTo>
                  <a:cubicBezTo>
                    <a:pt x="2029399" y="0"/>
                    <a:pt x="2042200" y="5302"/>
                    <a:pt x="2051638" y="14740"/>
                  </a:cubicBezTo>
                  <a:cubicBezTo>
                    <a:pt x="2061075" y="24178"/>
                    <a:pt x="2066377" y="36978"/>
                    <a:pt x="2066377" y="50325"/>
                  </a:cubicBezTo>
                  <a:lnTo>
                    <a:pt x="2066377" y="1642295"/>
                  </a:lnTo>
                  <a:cubicBezTo>
                    <a:pt x="2066377" y="1655641"/>
                    <a:pt x="2061075" y="1668442"/>
                    <a:pt x="2051638" y="1677880"/>
                  </a:cubicBezTo>
                  <a:cubicBezTo>
                    <a:pt x="2042200" y="1687317"/>
                    <a:pt x="2029399" y="1692619"/>
                    <a:pt x="2016053" y="1692619"/>
                  </a:cubicBezTo>
                  <a:lnTo>
                    <a:pt x="50325" y="1692619"/>
                  </a:lnTo>
                  <a:cubicBezTo>
                    <a:pt x="36978" y="1692619"/>
                    <a:pt x="24178" y="1687317"/>
                    <a:pt x="14740" y="1677880"/>
                  </a:cubicBezTo>
                  <a:cubicBezTo>
                    <a:pt x="5302" y="1668442"/>
                    <a:pt x="0" y="1655641"/>
                    <a:pt x="0" y="1642295"/>
                  </a:cubicBezTo>
                  <a:lnTo>
                    <a:pt x="0" y="50325"/>
                  </a:lnTo>
                  <a:cubicBezTo>
                    <a:pt x="0" y="36978"/>
                    <a:pt x="5302" y="24178"/>
                    <a:pt x="14740" y="14740"/>
                  </a:cubicBezTo>
                  <a:cubicBezTo>
                    <a:pt x="24178" y="5302"/>
                    <a:pt x="36978" y="0"/>
                    <a:pt x="50325" y="0"/>
                  </a:cubicBezTo>
                  <a:close/>
                </a:path>
              </a:pathLst>
            </a:custGeom>
            <a:solidFill>
              <a:srgbClr val="FAFB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06637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40823"/>
            <a:ext cx="6808632" cy="431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4725" indent="-332362" lvl="1">
              <a:lnSpc>
                <a:spcPts val="431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</a:t>
            </a: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alyze crop–environment interaction</a:t>
            </a:r>
          </a:p>
          <a:p>
            <a:pPr algn="l">
              <a:lnSpc>
                <a:spcPts val="4310"/>
              </a:lnSpc>
            </a:pPr>
          </a:p>
          <a:p>
            <a:pPr algn="l" marL="664725" indent="-332362" lvl="1">
              <a:lnSpc>
                <a:spcPts val="431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dentify crop health patterns</a:t>
            </a:r>
          </a:p>
          <a:p>
            <a:pPr algn="l">
              <a:lnSpc>
                <a:spcPts val="4310"/>
              </a:lnSpc>
            </a:pPr>
          </a:p>
          <a:p>
            <a:pPr algn="l" marL="664725" indent="-332362" lvl="1">
              <a:lnSpc>
                <a:spcPts val="431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Predict crop health</a:t>
            </a:r>
          </a:p>
          <a:p>
            <a:pPr algn="l">
              <a:lnSpc>
                <a:spcPts val="4310"/>
              </a:lnSpc>
            </a:pPr>
          </a:p>
          <a:p>
            <a:pPr algn="l" marL="664725" indent="-332362" lvl="1">
              <a:lnSpc>
                <a:spcPts val="4310"/>
              </a:lnSpc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 decision-making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02318" y="1028700"/>
            <a:ext cx="3615924" cy="213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1"/>
              </a:lnSpc>
            </a:pPr>
            <a:r>
              <a:rPr lang="en-US" sz="7018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Objective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69929" y="1038225"/>
            <a:ext cx="426317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Theory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78626" y="2535698"/>
            <a:ext cx="7845776" cy="6426664"/>
            <a:chOff x="0" y="0"/>
            <a:chExt cx="2066377" cy="16926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6377" cy="1692619"/>
            </a:xfrm>
            <a:custGeom>
              <a:avLst/>
              <a:gdLst/>
              <a:ahLst/>
              <a:cxnLst/>
              <a:rect r="r" b="b" t="t" l="l"/>
              <a:pathLst>
                <a:path h="1692619" w="2066377">
                  <a:moveTo>
                    <a:pt x="50325" y="0"/>
                  </a:moveTo>
                  <a:lnTo>
                    <a:pt x="2016053" y="0"/>
                  </a:lnTo>
                  <a:cubicBezTo>
                    <a:pt x="2029399" y="0"/>
                    <a:pt x="2042200" y="5302"/>
                    <a:pt x="2051638" y="14740"/>
                  </a:cubicBezTo>
                  <a:cubicBezTo>
                    <a:pt x="2061075" y="24178"/>
                    <a:pt x="2066377" y="36978"/>
                    <a:pt x="2066377" y="50325"/>
                  </a:cubicBezTo>
                  <a:lnTo>
                    <a:pt x="2066377" y="1642295"/>
                  </a:lnTo>
                  <a:cubicBezTo>
                    <a:pt x="2066377" y="1655641"/>
                    <a:pt x="2061075" y="1668442"/>
                    <a:pt x="2051638" y="1677880"/>
                  </a:cubicBezTo>
                  <a:cubicBezTo>
                    <a:pt x="2042200" y="1687317"/>
                    <a:pt x="2029399" y="1692619"/>
                    <a:pt x="2016053" y="1692619"/>
                  </a:cubicBezTo>
                  <a:lnTo>
                    <a:pt x="50325" y="1692619"/>
                  </a:lnTo>
                  <a:cubicBezTo>
                    <a:pt x="36978" y="1692619"/>
                    <a:pt x="24178" y="1687317"/>
                    <a:pt x="14740" y="1677880"/>
                  </a:cubicBezTo>
                  <a:cubicBezTo>
                    <a:pt x="5302" y="1668442"/>
                    <a:pt x="0" y="1655641"/>
                    <a:pt x="0" y="1642295"/>
                  </a:cubicBezTo>
                  <a:lnTo>
                    <a:pt x="0" y="50325"/>
                  </a:lnTo>
                  <a:cubicBezTo>
                    <a:pt x="0" y="36978"/>
                    <a:pt x="5302" y="24178"/>
                    <a:pt x="14740" y="14740"/>
                  </a:cubicBezTo>
                  <a:cubicBezTo>
                    <a:pt x="24178" y="5302"/>
                    <a:pt x="36978" y="0"/>
                    <a:pt x="50325" y="0"/>
                  </a:cubicBezTo>
                  <a:close/>
                </a:path>
              </a:pathLst>
            </a:custGeom>
            <a:solidFill>
              <a:srgbClr val="FAFBFF"/>
            </a:solidFill>
            <a:ln w="476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066377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143728" y="2632133"/>
            <a:ext cx="7115572" cy="61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 crop = an agent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Angent interacts with environment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soil, weather, water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Outputs: G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rowth Outlook (Go), Immediate Risk (Ir), Crop Viability (Cv)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Dynamic system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over time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8592" y="3033927"/>
            <a:ext cx="8587755" cy="616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Cv = Growth Outlook Go × (1 − Ir)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Go + Low Ir → Healthy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 Go + High Ir → Critical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 (Growth Outlook) → positive condition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Ir (Immediate Risk) → stress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Cv (Crop Viability) → overall health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81267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Key Formula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323912" y="1028700"/>
            <a:ext cx="9540880" cy="9575701"/>
          </a:xfrm>
          <a:custGeom>
            <a:avLst/>
            <a:gdLst/>
            <a:ahLst/>
            <a:cxnLst/>
            <a:rect r="r" b="b" t="t" l="l"/>
            <a:pathLst>
              <a:path h="9575701" w="9540880">
                <a:moveTo>
                  <a:pt x="0" y="0"/>
                </a:moveTo>
                <a:lnTo>
                  <a:pt x="9540880" y="0"/>
                </a:lnTo>
                <a:lnTo>
                  <a:pt x="9540880" y="9575701"/>
                </a:lnTo>
                <a:lnTo>
                  <a:pt x="0" y="9575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2451" y="2869565"/>
            <a:ext cx="8072884" cy="4481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Smart Farming Dataset 2024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Variables: soil, weather, water, pests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Process: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rocessing &amp; normalization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Feature engineering (THI, VPD, GDD)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35539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Dataset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884" y="2013110"/>
            <a:ext cx="9752514" cy="5951534"/>
          </a:xfrm>
          <a:custGeom>
            <a:avLst/>
            <a:gdLst/>
            <a:ahLst/>
            <a:cxnLst/>
            <a:rect r="r" b="b" t="t" l="l"/>
            <a:pathLst>
              <a:path h="5951534" w="9752514">
                <a:moveTo>
                  <a:pt x="0" y="0"/>
                </a:moveTo>
                <a:lnTo>
                  <a:pt x="9752515" y="0"/>
                </a:lnTo>
                <a:lnTo>
                  <a:pt x="9752515" y="5951535"/>
                </a:lnTo>
                <a:lnTo>
                  <a:pt x="0" y="5951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0332" y="2433955"/>
            <a:ext cx="6886553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Environmental inputs are transformed into variables(i1 - i9)  eg.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i1 → nutrient level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i2 → soil fertility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i3 → atmospheric support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i6 → water deficit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i8 → environmental stress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Model 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148955"/>
            <a:ext cx="11118181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Flow: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Input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Condition → Behavior → Decision → Output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884" y="2013110"/>
            <a:ext cx="9752514" cy="5951534"/>
          </a:xfrm>
          <a:custGeom>
            <a:avLst/>
            <a:gdLst/>
            <a:ahLst/>
            <a:cxnLst/>
            <a:rect r="r" b="b" t="t" l="l"/>
            <a:pathLst>
              <a:path h="5951534" w="9752514">
                <a:moveTo>
                  <a:pt x="0" y="0"/>
                </a:moveTo>
                <a:lnTo>
                  <a:pt x="9752515" y="0"/>
                </a:lnTo>
                <a:lnTo>
                  <a:pt x="9752515" y="5951535"/>
                </a:lnTo>
                <a:lnTo>
                  <a:pt x="0" y="5951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0332" y="2433955"/>
            <a:ext cx="6886553" cy="702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Hidden Layer 1 (Condition)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Sc, Ac, Wc, Gc, Cs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Hidden Layer 2 (Behavior)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Es, Gp, Sp, Rp, Sb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Hidden Layer 3 (Decision)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 (growth), Ir (risk)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Output: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👉 Cv = Go × (1 − Ir)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60332" y="1038225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Model Structure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3028" y="4784991"/>
            <a:ext cx="5647371" cy="4387082"/>
          </a:xfrm>
          <a:custGeom>
            <a:avLst/>
            <a:gdLst/>
            <a:ahLst/>
            <a:cxnLst/>
            <a:rect r="r" b="b" t="t" l="l"/>
            <a:pathLst>
              <a:path h="4387082" w="5647371">
                <a:moveTo>
                  <a:pt x="0" y="0"/>
                </a:moveTo>
                <a:lnTo>
                  <a:pt x="5647370" y="0"/>
                </a:lnTo>
                <a:lnTo>
                  <a:pt x="5647370" y="4387082"/>
                </a:lnTo>
                <a:lnTo>
                  <a:pt x="0" y="4387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7319" y="4784991"/>
            <a:ext cx="5666296" cy="4352372"/>
          </a:xfrm>
          <a:custGeom>
            <a:avLst/>
            <a:gdLst/>
            <a:ahLst/>
            <a:cxnLst/>
            <a:rect r="r" b="b" t="t" l="l"/>
            <a:pathLst>
              <a:path h="4352372" w="5666296">
                <a:moveTo>
                  <a:pt x="0" y="0"/>
                </a:moveTo>
                <a:lnTo>
                  <a:pt x="5666295" y="0"/>
                </a:lnTo>
                <a:lnTo>
                  <a:pt x="5666295" y="4352372"/>
                </a:lnTo>
                <a:lnTo>
                  <a:pt x="0" y="4352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7319" y="2668331"/>
            <a:ext cx="5666296" cy="181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Po</a:t>
            </a: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sitive factors: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water support, nutrients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84156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Results(Key Findings)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70296" y="2668331"/>
            <a:ext cx="6837834" cy="174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Negative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factors: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atmospheric stress, water deficit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5516" y="2431906"/>
            <a:ext cx="9682484" cy="7649441"/>
          </a:xfrm>
          <a:custGeom>
            <a:avLst/>
            <a:gdLst/>
            <a:ahLst/>
            <a:cxnLst/>
            <a:rect r="r" b="b" t="t" l="l"/>
            <a:pathLst>
              <a:path h="7649441" w="9682484">
                <a:moveTo>
                  <a:pt x="0" y="0"/>
                </a:moveTo>
                <a:lnTo>
                  <a:pt x="9682484" y="0"/>
                </a:lnTo>
                <a:lnTo>
                  <a:pt x="9682484" y="7649440"/>
                </a:lnTo>
                <a:lnTo>
                  <a:pt x="0" y="76494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9451" y="2978688"/>
            <a:ext cx="7218078" cy="5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Show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 relationship between variables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ater support → positive effect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Stress &amp; water deficit → negative effect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Go ↑ → Cv ↑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Ir ↑ → Cv ↓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84156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4727" y="2643884"/>
            <a:ext cx="7933975" cy="6428202"/>
          </a:xfrm>
          <a:custGeom>
            <a:avLst/>
            <a:gdLst/>
            <a:ahLst/>
            <a:cxnLst/>
            <a:rect r="r" b="b" t="t" l="l"/>
            <a:pathLst>
              <a:path h="6428202" w="7933975">
                <a:moveTo>
                  <a:pt x="0" y="0"/>
                </a:moveTo>
                <a:lnTo>
                  <a:pt x="7933975" y="0"/>
                </a:lnTo>
                <a:lnTo>
                  <a:pt x="7933975" y="6428202"/>
                </a:lnTo>
                <a:lnTo>
                  <a:pt x="0" y="6428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1025" y="2971431"/>
            <a:ext cx="7406878" cy="391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 Growth + Low Risk → Healthy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Growth + High Risk → W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arning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 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Growth + Low Risk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Moderate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 Growth + High Risk → Critical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59446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Decision Zones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7903" y="1349921"/>
            <a:ext cx="9673964" cy="8346452"/>
          </a:xfrm>
          <a:custGeom>
            <a:avLst/>
            <a:gdLst/>
            <a:ahLst/>
            <a:cxnLst/>
            <a:rect r="r" b="b" t="t" l="l"/>
            <a:pathLst>
              <a:path h="8346452" w="9673964">
                <a:moveTo>
                  <a:pt x="0" y="0"/>
                </a:moveTo>
                <a:lnTo>
                  <a:pt x="9673964" y="0"/>
                </a:lnTo>
                <a:lnTo>
                  <a:pt x="9673964" y="8346453"/>
                </a:lnTo>
                <a:lnTo>
                  <a:pt x="0" y="8346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1025" y="2971431"/>
            <a:ext cx="6861704" cy="335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hows change over time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Healthy → growth increases, risk decre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ases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Critical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→ low growth, high risk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System becomes stable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59446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Decision Zones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9EB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5735" y="2971431"/>
            <a:ext cx="8613353" cy="2795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ABM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models complex agricultural systems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predictive i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nsights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rts sma</a:t>
            </a:r>
            <a:r>
              <a:rPr lang="en-US" sz="3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rt farming decisions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58284"/>
            <a:ext cx="929521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322C23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DAHHxjlvDRA</dc:identifier>
  <dcterms:modified xsi:type="dcterms:W3CDTF">2011-08-01T06:04:30Z</dcterms:modified>
  <cp:revision>1</cp:revision>
  <dc:title>HereWeGoAgain_Final_Presentation</dc:title>
</cp:coreProperties>
</file>